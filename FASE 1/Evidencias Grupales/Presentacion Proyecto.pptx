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ggLxysLl9utw8cRIis/EShKS+h0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33E16E8-4781-423C-A866-0AF6BA6D792C}">
  <a:tblStyle styleId="{B33E16E8-4781-423C-A866-0AF6BA6D792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2B494642-32CD-4C39-B7D2-F92A5F2103D8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customschemas.google.com/relationships/presentationmetadata" Target="metadata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8b99729d8c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8b99729d8c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8b99729d8c_0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8b99729d8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8b99729d8c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38b99729d8c_0_4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3.jpg"/><Relationship Id="rId5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407886" y="1398133"/>
            <a:ext cx="9144000" cy="16208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Presentación Portafolio </a:t>
            </a:r>
            <a:r>
              <a:rPr lang="es-CL"/>
              <a:t>Título</a:t>
            </a:r>
            <a:br>
              <a:rPr lang="es-CL"/>
            </a:br>
            <a:r>
              <a:rPr lang="es-CL" sz="3200"/>
              <a:t>“</a:t>
            </a:r>
            <a:r>
              <a:rPr lang="es-CL" sz="3200"/>
              <a:t>Sistema de Gestión Escolar Santa Juliana </a:t>
            </a:r>
            <a:r>
              <a:rPr lang="es-CL" sz="3200"/>
              <a:t>”</a:t>
            </a:r>
            <a:endParaRPr/>
          </a:p>
        </p:txBody>
      </p:sp>
      <p:sp>
        <p:nvSpPr>
          <p:cNvPr id="85" name="Google Shape;85;p1"/>
          <p:cNvSpPr txBox="1"/>
          <p:nvPr>
            <p:ph idx="1" type="subTitle"/>
          </p:nvPr>
        </p:nvSpPr>
        <p:spPr>
          <a:xfrm>
            <a:off x="1524000" y="3562999"/>
            <a:ext cx="9144000" cy="16208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s-CL" sz="3200"/>
              <a:t>Ingeniería Informática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s-CL" sz="1400"/>
              <a:t>Escuela de Informática y Telecomunicaciones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s-CL" sz="1400"/>
              <a:t>Sede Puente Alto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s-CL" sz="1400"/>
              <a:t>2026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t/>
            </a:r>
            <a:endParaRPr sz="1400"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/>
          <p:nvPr/>
        </p:nvSpPr>
        <p:spPr>
          <a:xfrm>
            <a:off x="555827" y="2315666"/>
            <a:ext cx="2993823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1" name="Google Shape;91;p2"/>
          <p:cNvGrpSpPr/>
          <p:nvPr/>
        </p:nvGrpSpPr>
        <p:grpSpPr>
          <a:xfrm>
            <a:off x="4082925" y="1382425"/>
            <a:ext cx="6781017" cy="4772809"/>
            <a:chOff x="0" y="0"/>
            <a:chExt cx="6781017" cy="3415981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6781017" cy="1067494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5D7FC9"/>
                </a:gs>
                <a:gs pos="50000">
                  <a:srgbClr val="3A6EC9"/>
                </a:gs>
                <a:gs pos="100000">
                  <a:srgbClr val="2C5EB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462952" y="0"/>
              <a:ext cx="5318064" cy="10674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80000" lIns="80000" spcFirstLastPara="1" rIns="80000" wrap="square" tIns="800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CL" sz="2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Pedro Iturriaga Gómez </a:t>
              </a:r>
              <a:endParaRPr b="0" i="0" sz="21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735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Char char="•"/>
              </a:pPr>
              <a:r>
                <a:rPr lang="es-CL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Jefe de Proyecto / Aseguramiento de Calidad (QA) </a:t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24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Char char="•"/>
              </a:pPr>
              <a:r>
                <a:rPr b="0" i="0" lang="es-CL" sz="1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Funciones desempeñadas</a:t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0" y="1174243"/>
              <a:ext cx="6781017" cy="1067494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5D7FC9"/>
                </a:gs>
                <a:gs pos="50000">
                  <a:srgbClr val="3A6EC9"/>
                </a:gs>
                <a:gs pos="100000">
                  <a:srgbClr val="2C5EB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" name="Google Shape;95;p2"/>
            <p:cNvSpPr txBox="1"/>
            <p:nvPr/>
          </p:nvSpPr>
          <p:spPr>
            <a:xfrm>
              <a:off x="1462952" y="1174243"/>
              <a:ext cx="5318064" cy="10674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80000" lIns="80000" spcFirstLastPara="1" rIns="80000" wrap="square" tIns="800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CL" sz="2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Iván Carrasco González </a:t>
              </a:r>
              <a:endParaRPr b="0" i="0" sz="21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735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Char char="•"/>
              </a:pPr>
              <a:r>
                <a:rPr lang="es-CL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Analista Programador (Backend) </a:t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24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Char char="•"/>
              </a:pPr>
              <a:r>
                <a:rPr b="0" i="0" lang="es-CL" sz="1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Funciones desempeñadas</a:t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0" y="2348487"/>
              <a:ext cx="6781017" cy="1067494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5D7FC9"/>
                </a:gs>
                <a:gs pos="50000">
                  <a:srgbClr val="3A6EC9"/>
                </a:gs>
                <a:gs pos="100000">
                  <a:srgbClr val="2C5EB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2"/>
            <p:cNvSpPr txBox="1"/>
            <p:nvPr/>
          </p:nvSpPr>
          <p:spPr>
            <a:xfrm>
              <a:off x="1462952" y="2348487"/>
              <a:ext cx="5318064" cy="10674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80000" lIns="80000" spcFirstLastPara="1" rIns="80000" wrap="square" tIns="800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CL" sz="2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Franco González Gaete </a:t>
              </a:r>
              <a:endParaRPr/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735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Char char="•"/>
              </a:pPr>
              <a:r>
                <a:rPr lang="es-CL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BD (DBA) / Diseñador UI </a:t>
              </a:r>
              <a:endParaRPr/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24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Char char="•"/>
              </a:pPr>
              <a:r>
                <a:rPr b="0" i="0" lang="es-CL" sz="1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Funciones desempeñadas</a:t>
              </a:r>
              <a:endParaRPr/>
            </a:p>
          </p:txBody>
        </p:sp>
      </p:grpSp>
      <p:pic>
        <p:nvPicPr>
          <p:cNvPr id="98" name="Google Shape;98;p2" title="Gemini_Generated_Image_akd4bkakd4bkakd4.png"/>
          <p:cNvPicPr preferRelativeResize="0"/>
          <p:nvPr/>
        </p:nvPicPr>
        <p:blipFill rotWithShape="1">
          <a:blip r:embed="rId3">
            <a:alphaModFix/>
          </a:blip>
          <a:srcRect b="7190" l="0" r="4907" t="12656"/>
          <a:stretch/>
        </p:blipFill>
        <p:spPr>
          <a:xfrm>
            <a:off x="4268625" y="1477404"/>
            <a:ext cx="1105099" cy="1276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68625" y="4743119"/>
            <a:ext cx="1105100" cy="13415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2"/>
          <p:cNvPicPr preferRelativeResize="0"/>
          <p:nvPr/>
        </p:nvPicPr>
        <p:blipFill rotWithShape="1">
          <a:blip r:embed="rId5">
            <a:alphaModFix/>
          </a:blip>
          <a:srcRect b="8869" l="0" r="0" t="8322"/>
          <a:stretch/>
        </p:blipFill>
        <p:spPr>
          <a:xfrm>
            <a:off x="4268625" y="3148313"/>
            <a:ext cx="1105100" cy="120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/>
          <p:cNvSpPr txBox="1"/>
          <p:nvPr>
            <p:ph type="title"/>
          </p:nvPr>
        </p:nvSpPr>
        <p:spPr>
          <a:xfrm>
            <a:off x="725659" y="1110713"/>
            <a:ext cx="10515600" cy="71808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/>
              <a:t>Descripción del Proyecto</a:t>
            </a:r>
            <a:endParaRPr/>
          </a:p>
        </p:txBody>
      </p:sp>
      <p:sp>
        <p:nvSpPr>
          <p:cNvPr id="106" name="Google Shape;106;p3"/>
          <p:cNvSpPr/>
          <p:nvPr/>
        </p:nvSpPr>
        <p:spPr>
          <a:xfrm>
            <a:off x="714909" y="2169769"/>
            <a:ext cx="4427360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Problemática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Liceo Santa Juliana sufre de ineficiencia administrativa y operativa debido a su alta dependencia de procesos manuales, formularios en papel y planillas Excel dispersas. Esto genera pérdida de tiempo lectivo para los docentes, falta de trazabilidad en las fallas de hardware y quiebres de stock en insumos básicos.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6912079" y="2177325"/>
            <a:ext cx="4641292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1-Arquitectura: Creación de un sistema web basado en una arquitectura sólida de tres capas, utilizando Python (Django) y Oracle Database, eliminando la redundancia de datos.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 Módulos Operativos: Implementación de módulos específicos para Mesa de Ayuda TI (bitácora de hardware), control de inventario/insumos, y un libro de clases digital para asistencia y calificaciones.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 Portal de Apoderados: Integración de un entorno de autoservicio para la comunidad familiar, permitiendo visualizar el rendimiento en tiempo real y emitir certificados oficiales automatizados en PDF.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26415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e implementar una plataforma web centralizada para la gestión académica, logística y de soporte informático del Liceo Santa Juliana, mejorando la eficiencia operativa del establecimiento.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614514" y="4732407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228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Construir una base de datos relacional centralizada en Oracle.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228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 módulo de Mesa de Ayuda TI para trazabilidad histórica.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228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 un portal web de autoservicio para apoderados.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2286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Asegurar la plataforma mediante Control de Acceso Basado en Roles (RBAC).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 txBox="1"/>
          <p:nvPr/>
        </p:nvSpPr>
        <p:spPr>
          <a:xfrm>
            <a:off x="152400" y="1197198"/>
            <a:ext cx="119380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 txBox="1"/>
          <p:nvPr/>
        </p:nvSpPr>
        <p:spPr>
          <a:xfrm>
            <a:off x="152400" y="4009875"/>
            <a:ext cx="119380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 txBox="1"/>
          <p:nvPr>
            <p:ph type="title"/>
          </p:nvPr>
        </p:nvSpPr>
        <p:spPr>
          <a:xfrm>
            <a:off x="810065" y="809447"/>
            <a:ext cx="10515600" cy="750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/>
              <a:t>Alcances</a:t>
            </a:r>
            <a:endParaRPr/>
          </a:p>
        </p:txBody>
      </p:sp>
      <p:sp>
        <p:nvSpPr>
          <p:cNvPr id="122" name="Google Shape;122;p5"/>
          <p:cNvSpPr txBox="1"/>
          <p:nvPr/>
        </p:nvSpPr>
        <p:spPr>
          <a:xfrm>
            <a:off x="914374" y="1664801"/>
            <a:ext cx="10072800" cy="41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 hace el Sistema: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Calibri"/>
              <a:buChar char="●"/>
            </a:pPr>
            <a:r>
              <a:rPr lang="es-CL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Digitaliza la gestión del inventario tecnológico y el stock de insumos.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Calibri"/>
              <a:buChar char="●"/>
            </a:pPr>
            <a:r>
              <a:rPr lang="es-CL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Centraliza el soporte de TI mediante una bitácora de incidencias.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Calibri"/>
              <a:buChar char="●"/>
            </a:pPr>
            <a:r>
              <a:rPr lang="es-CL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Facilita a los docentes el registro de asistencia y calificaciones (escala 1.0 a 7.0).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Calibri"/>
              <a:buChar char="●"/>
            </a:pPr>
            <a:r>
              <a:rPr lang="es-CL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Provee un portal de autoservicio para apoderados con descarga automática de certificados PDF.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Qué no hace: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integra pasarelas de pago bancario en línea (ej. Webpay).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administra la contabilidad ni las finanzas del establecimiento.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contempla el desarrollo de aplicaciones móviles nativas (iOS/Android).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"/>
          <p:cNvSpPr txBox="1"/>
          <p:nvPr>
            <p:ph type="title"/>
          </p:nvPr>
        </p:nvSpPr>
        <p:spPr>
          <a:xfrm>
            <a:off x="841416" y="1054442"/>
            <a:ext cx="10515600" cy="75258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/>
              <a:t>Usuarios</a:t>
            </a:r>
            <a:endParaRPr/>
          </a:p>
        </p:txBody>
      </p:sp>
      <p:sp>
        <p:nvSpPr>
          <p:cNvPr id="128" name="Google Shape;128;p6"/>
          <p:cNvSpPr/>
          <p:nvPr/>
        </p:nvSpPr>
        <p:spPr>
          <a:xfrm>
            <a:off x="839487" y="1923143"/>
            <a:ext cx="10365542" cy="4332514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Administrador: Posee nivel técnico alto. Es responsable de parametrizar el sistema en el Backoffice, gestionar credenciales de acceso.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Jefe TI: Posee nivel técnico medio. Se encarga del control logístico, aprobando o rechazando las solicitudes de insumos, encargado de las incidencias.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Docente: Posee nivel técnico medio. Interactúa con el sistema desde el aula para registrar asistencia diaria, ponderar calificaciones y generar tickets rápidos por fallas en los equipos.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Encargado de Aseo: Posee nivel técnico básico. Utiliza interfaces simplificadas e intuitivas exclusivamente para solicitar materiales de limpieza y reportar incidencias menores.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Apoderado: Posee un nivel técnico heterogéneo. Accede a un portal web de autoservicio diseñado para consultar el rendimiento de su pupilo y descargar certificados de forma completamente autónoma.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"/>
          <p:cNvSpPr txBox="1"/>
          <p:nvPr>
            <p:ph type="title"/>
          </p:nvPr>
        </p:nvSpPr>
        <p:spPr>
          <a:xfrm>
            <a:off x="338541" y="819292"/>
            <a:ext cx="10515600" cy="75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/>
              <a:t>Lista de Requerimientos</a:t>
            </a:r>
            <a:endParaRPr/>
          </a:p>
        </p:txBody>
      </p:sp>
      <p:graphicFrame>
        <p:nvGraphicFramePr>
          <p:cNvPr id="134" name="Google Shape;134;p7"/>
          <p:cNvGraphicFramePr/>
          <p:nvPr/>
        </p:nvGraphicFramePr>
        <p:xfrm>
          <a:off x="338563" y="1467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{B33E16E8-4781-423C-A866-0AF6BA6D792C}</a:tableStyleId>
              </a:tblPr>
              <a:tblGrid>
                <a:gridCol w="615075"/>
                <a:gridCol w="1960500"/>
                <a:gridCol w="1699275"/>
                <a:gridCol w="2234850"/>
                <a:gridCol w="4351025"/>
                <a:gridCol w="74567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[R-N°]</a:t>
                      </a:r>
                      <a:endParaRPr b="1" sz="12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[Nombre del Requerimiento]</a:t>
                      </a:r>
                      <a:endParaRPr b="1" sz="12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 Requerimiento</a:t>
                      </a:r>
                      <a:endParaRPr b="1" sz="12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[Funcional, No Funcional]</a:t>
                      </a:r>
                      <a:endParaRPr b="1" sz="12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Actores Usuarios Relacionados</a:t>
                      </a:r>
                      <a:endParaRPr b="1" sz="12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[Descripción corta del requerimiento]</a:t>
                      </a:r>
                      <a:endParaRPr b="1" sz="12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2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Estado</a:t>
                      </a:r>
                      <a:endParaRPr b="1" sz="12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R.1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Autenticar Usuario al iniciar Sesión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Todos los Actores que interactúen en el Sistema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sistema debe validar la identidad del usuario mediante su RUT y contraseña cifrada, asignando el perfil correspondiente (Docente, Aseo, Administrativo, Apoderado o TI).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R.2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Administrar Cuentas de Usuario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Administrador TI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Administrador podrá crear, consultar, modificar y desactivar cuentas de usuario asignando sus respectivos roles y permisos.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R.3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Mantenedor de Salas y Espacios Físicos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Administrador TI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Registrar y listar los espacios físicos (salas de clases, 3 laboratorios y oficinas) asociándolos al edificio de párvulos o básica/media.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R.4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Gestionar Inventario Tecnológico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Administrador TI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Registrar y consultar la ficha técnica de hardware (PCs de laboratorios, proyectores, impresoras), su ubicación física y su estado operativo.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R.5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Administrar Insumos y Materiales de Aseo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Administrador TI, Administrativo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Gestionar el catálogo de artículos de limpieza con su unidad de medida, cantidad en stock y alertas de umbral mínimo.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135" name="Google Shape;135;p7"/>
          <p:cNvGraphicFramePr/>
          <p:nvPr/>
        </p:nvGraphicFramePr>
        <p:xfrm>
          <a:off x="338563" y="49525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{B33E16E8-4781-423C-A866-0AF6BA6D792C}</a:tableStyleId>
              </a:tblPr>
              <a:tblGrid>
                <a:gridCol w="615075"/>
                <a:gridCol w="1960500"/>
                <a:gridCol w="1699275"/>
                <a:gridCol w="2234850"/>
                <a:gridCol w="4351025"/>
                <a:gridCol w="7457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R.6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Gestionar Cursos y Asignaturas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Administrativo, Administrador TI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Configurar los niveles lectivos, catálogo de materias y asociar qué profesor imparte cada asignatura en un curso determinado.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R.7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Tipificar Mantenimientos Técnicos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Administrador TI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Registrar y clasificar los tipos de mantenciones y fallas (preventivo, correctivo hardware/software, conectividad/red).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R.8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Solicitar Insumos de Aseo y Materiales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Profesores, Encargados de Aseo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Ingresar digitalmente solicitudes de materiales indicando el ítem, la cantidad requerida, dependencia de destino y motivo.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0" name="Google Shape;140;g38b99729d8c_0_14"/>
          <p:cNvGraphicFramePr/>
          <p:nvPr/>
        </p:nvGraphicFramePr>
        <p:xfrm>
          <a:off x="482225" y="871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{B33E16E8-4781-423C-A866-0AF6BA6D792C}</a:tableStyleId>
              </a:tblPr>
              <a:tblGrid>
                <a:gridCol w="497475"/>
                <a:gridCol w="1464125"/>
                <a:gridCol w="693425"/>
                <a:gridCol w="1137550"/>
                <a:gridCol w="6767650"/>
                <a:gridCol w="967725"/>
              </a:tblGrid>
              <a:tr h="436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R.9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Revisar y Aprobar Solicitudes de Insumos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Administrativo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Evaluar pedidos pendientes, revisar stock disponible y emitir resolución (Aprobar, Rechazar o Ajustar) rebajando automáticamente el inventario.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82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R.10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Reportar Incidencias Técnicas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Profesores, Funcionarios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Notificar fallas en equipos de salas, laboratorios o conectividad, detallando la ubicación, equipo y prioridad (Baja, Media, Alta, Crítica).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5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R.11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Registrar Bitácora de Mantención TI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Administrador TI / Soporte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Registrar intervenciones técnicas con fecha/hora, diagnóstico, repuestos utilizados, tiempo de atención y resultado final de la falla.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5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R.12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Consultar Hoja de Vida por Equipo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Administrador TI / Soporte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Consultar el historial consolidado de incidencias y mantenciones asociadas a un equipo mediante su código institucional de inventario.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5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R.13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Registrar Asistencia Diaria de Alumnos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Profesores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Marcar presencia o ausencia de estudiantes por curso/asignatura de forma rápida con registro de fecha y hora.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5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R.14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Registrar y Ponderar Calificaciones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Profesores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Ingresar y modificar calificaciones en escala de 1.0 a 7.0, calculando automáticamente promedios ponderados por período.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5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R.15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Consultar Rendimiento y Asistencia de Pupilos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Apoderados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Visualizar en línea el resumen de notas parciales y el porcentaje global de asistencia de los estudiantes a cargo.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5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R.16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Solicitar Certificado de Alumno Regular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Apoderados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Solicitar y descargar de forma autónoma certificados escolares válidos en formato PDF.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5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R.17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Notificar por Correo Electrónico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Todos los Actores que interactúen en el Sistema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Enviar correos automáticos ante resolución de solicitudes de insumos, fallas críticas reportadas y emisión de certificados.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5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R.18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Generar Reporte de Mantenimiento TI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Administrador TI, Directivos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Consultar en pantalla y exportar a PDF y Excel un consolidado de incidencias con filtros por fecha, sala y tipo de falla.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5" name="Google Shape;145;g38b99729d8c_0_20"/>
          <p:cNvGraphicFramePr/>
          <p:nvPr/>
        </p:nvGraphicFramePr>
        <p:xfrm>
          <a:off x="286300" y="15275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{B33E16E8-4781-423C-A866-0AF6BA6D792C}</a:tableStyleId>
              </a:tblPr>
              <a:tblGrid>
                <a:gridCol w="517075"/>
                <a:gridCol w="1640500"/>
                <a:gridCol w="1157125"/>
                <a:gridCol w="1967050"/>
                <a:gridCol w="5363400"/>
                <a:gridCol w="11571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R.19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Generar Reporte de Consumo de Insumos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Administrativo, Directivos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Consultar en pantalla y exportar a PDF y Excel las solicitudes atendidas, insumos despachados por área y stock remanente.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R.20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Rapidez en Tiempos de Respuesta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Que las consultas, toma de asistencia y registros del sistema respondan en menos de 2 segundos con al menos 80 usuarios concurrentes.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R.21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Seguridad y Cifrado de Contraseñas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 claves deben guardarse cifradas (bcrypt) y las sesiones deben cerrarse por inactividad protegiendo los datos del colegio.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R.22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Validación y Formato de Datos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sistema debe validar el formato de RUT chileno (módulo 11), correos válidos y rango de notas de 1.0 a 7.0 tanto en cliente como servidor.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R.23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Adaptabilidad a Monitores Institucionales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interfaz debe visualizarse correctamente en computadores de escritorio, All-in-One y notebooks de salas y oficinas (desde 1366x768).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R.24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Disponibilidad del Sistema en Horario Escolar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plataforma debe estar disponible un 99.5% del tiempo en jornada escolar de 07:30 a 19:30 horas.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R.25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Estructura y Arquitectura en Capas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Funcional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aplicación debe construirse en capas desacopladas (Presentación, Lógica de Negocio y Datos) con POO.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Sugerido</a:t>
                      </a:r>
                      <a:endParaRPr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>
                    <a:lnL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8"/>
          <p:cNvSpPr txBox="1"/>
          <p:nvPr>
            <p:ph type="title"/>
          </p:nvPr>
        </p:nvSpPr>
        <p:spPr>
          <a:xfrm>
            <a:off x="641252" y="1068511"/>
            <a:ext cx="10515600" cy="5208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Mockups del Sistema</a:t>
            </a:r>
            <a:endParaRPr/>
          </a:p>
        </p:txBody>
      </p:sp>
      <p:sp>
        <p:nvSpPr>
          <p:cNvPr id="151" name="Google Shape;151;p8"/>
          <p:cNvSpPr txBox="1"/>
          <p:nvPr/>
        </p:nvSpPr>
        <p:spPr>
          <a:xfrm>
            <a:off x="757367" y="1848356"/>
            <a:ext cx="99906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1-Login                                                                                         2-Vista Administrador crear Usuario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" name="Google Shape;152;p8" title="1. VISTA LOG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050" y="2370399"/>
            <a:ext cx="5453752" cy="340859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53" name="Google Shape;153;p8" title="2.1 VISTA ADMINISTRADOR CREAR USUAR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88225" y="2370399"/>
            <a:ext cx="5453744" cy="340859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9"/>
          <p:cNvSpPr txBox="1"/>
          <p:nvPr>
            <p:ph type="title"/>
          </p:nvPr>
        </p:nvSpPr>
        <p:spPr>
          <a:xfrm>
            <a:off x="641252" y="1068511"/>
            <a:ext cx="10515600" cy="5208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Mockups del Sistema</a:t>
            </a:r>
            <a:endParaRPr/>
          </a:p>
        </p:txBody>
      </p:sp>
      <p:sp>
        <p:nvSpPr>
          <p:cNvPr id="159" name="Google Shape;159;p9"/>
          <p:cNvSpPr txBox="1"/>
          <p:nvPr/>
        </p:nvSpPr>
        <p:spPr>
          <a:xfrm>
            <a:off x="232325" y="1848350"/>
            <a:ext cx="105156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3-Vista Apoderados Notas                                                                4-Vista Jefe TI Incidencias   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0" name="Google Shape;160;p9" title="3. VISTA APODERADO NOTA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3025" y="2592473"/>
            <a:ext cx="4996976" cy="3747751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61" name="Google Shape;161;p9" title="4.1 VISTA JEFE TI INCIDENCIA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27501" y="2651050"/>
            <a:ext cx="4840801" cy="3630601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8b99729d8c_0_43"/>
          <p:cNvSpPr txBox="1"/>
          <p:nvPr>
            <p:ph type="title"/>
          </p:nvPr>
        </p:nvSpPr>
        <p:spPr>
          <a:xfrm>
            <a:off x="641252" y="1068511"/>
            <a:ext cx="10515600" cy="52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Mockups del Sistema</a:t>
            </a:r>
            <a:endParaRPr/>
          </a:p>
        </p:txBody>
      </p:sp>
      <p:sp>
        <p:nvSpPr>
          <p:cNvPr id="167" name="Google Shape;167;g38b99729d8c_0_43"/>
          <p:cNvSpPr txBox="1"/>
          <p:nvPr/>
        </p:nvSpPr>
        <p:spPr>
          <a:xfrm>
            <a:off x="232325" y="1848350"/>
            <a:ext cx="105156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-Vista Profesores                                                                              6-Vista Supervisor de aseo  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g38b99729d8c_0_43" title="5.1 VISTA PROFESOR AGREGAR NOTA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350" y="2449150"/>
            <a:ext cx="5114524" cy="39429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69" name="Google Shape;169;g38b99729d8c_0_43" title="6. VISTA SUPERVISOR DE ASE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45428" y="2449150"/>
            <a:ext cx="5257256" cy="39429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0"/>
          <p:cNvSpPr txBox="1"/>
          <p:nvPr>
            <p:ph type="title"/>
          </p:nvPr>
        </p:nvSpPr>
        <p:spPr>
          <a:xfrm>
            <a:off x="641252" y="1068511"/>
            <a:ext cx="10515600" cy="6441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Hitos Importantes </a:t>
            </a:r>
            <a:endParaRPr/>
          </a:p>
        </p:txBody>
      </p:sp>
      <p:graphicFrame>
        <p:nvGraphicFramePr>
          <p:cNvPr id="175" name="Google Shape;175;p10"/>
          <p:cNvGraphicFramePr/>
          <p:nvPr/>
        </p:nvGraphicFramePr>
        <p:xfrm>
          <a:off x="1708434" y="235686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{2B494642-32CD-4C39-B7D2-F92A5F2103D8}</a:tableStyleId>
              </a:tblPr>
              <a:tblGrid>
                <a:gridCol w="4027750"/>
                <a:gridCol w="3497475"/>
              </a:tblGrid>
              <a:tr h="370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b="1" lang="es-CL" sz="1800" u="none" cap="none" strike="noStrike">
                          <a:solidFill>
                            <a:schemeClr val="dk1"/>
                          </a:solidFill>
                        </a:rPr>
                        <a:t>Nombre Fase</a:t>
                      </a:r>
                      <a:endParaRPr b="1" sz="18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b="1" lang="es-CL" sz="1800" u="none" cap="none" strike="noStrike">
                          <a:solidFill>
                            <a:schemeClr val="dk1"/>
                          </a:solidFill>
                        </a:rPr>
                        <a:t>Fechas</a:t>
                      </a:r>
                      <a:endParaRPr b="1" sz="18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 anchor="ctr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s-CL" sz="1800"/>
                        <a:t>Fase 1 - Planificación</a:t>
                      </a:r>
                      <a:endParaRPr sz="18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s-CL" sz="1800"/>
                        <a:t>19/08/2026 al 01/09/2026</a:t>
                      </a:r>
                      <a:endParaRPr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/>
                </a:tc>
              </a:tr>
              <a:tr h="37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s-CL" sz="1800"/>
                        <a:t>Fase 2 - Análisis y Diseño</a:t>
                      </a:r>
                      <a:endParaRPr sz="18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s-CL" sz="1800"/>
                        <a:t>02/09/2026 al 09/09/2026</a:t>
                      </a:r>
                      <a:endParaRPr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s-CL" sz="1800"/>
                        <a:t>Fase 3 - Desarrollo y Persistencia</a:t>
                      </a:r>
                      <a:endParaRPr sz="18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s-CL" sz="1800"/>
                        <a:t>23/09/2026 al 10/11/2026</a:t>
                      </a:r>
                      <a:endParaRPr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/>
                </a:tc>
              </a:tr>
              <a:tr h="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s-CL" sz="1800"/>
                        <a:t>Fase 4 - Pruebas y  Aseguramiento (QA)</a:t>
                      </a:r>
                      <a:endParaRPr sz="18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s-CL" sz="1800"/>
                        <a:t>11/11/2026 al 24/11/2026</a:t>
                      </a:r>
                      <a:endParaRPr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s-CL" sz="1800"/>
                        <a:t>Fase 5 - Implementación y Cierre</a:t>
                      </a:r>
                      <a:endParaRPr sz="18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s-CL" sz="1800"/>
                        <a:t>25/11/2026 al 09/12/2026 </a:t>
                      </a:r>
                      <a:endParaRPr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/>
          <p:nvPr>
            <p:ph type="title"/>
          </p:nvPr>
        </p:nvSpPr>
        <p:spPr>
          <a:xfrm>
            <a:off x="706567" y="901597"/>
            <a:ext cx="10515600" cy="58611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Costos por Fase </a:t>
            </a:r>
            <a:endParaRPr/>
          </a:p>
        </p:txBody>
      </p:sp>
      <p:sp>
        <p:nvSpPr>
          <p:cNvPr id="181" name="Google Shape;181;p11"/>
          <p:cNvSpPr/>
          <p:nvPr/>
        </p:nvSpPr>
        <p:spPr>
          <a:xfrm>
            <a:off x="782337" y="1681843"/>
            <a:ext cx="10247613" cy="4332514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2" name="Google Shape;182;p11"/>
          <p:cNvGraphicFramePr/>
          <p:nvPr/>
        </p:nvGraphicFramePr>
        <p:xfrm>
          <a:off x="2333396" y="235686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{2B494642-32CD-4C39-B7D2-F92A5F2103D8}</a:tableStyleId>
              </a:tblPr>
              <a:tblGrid>
                <a:gridCol w="4027750"/>
                <a:gridCol w="3497475"/>
              </a:tblGrid>
              <a:tr h="3708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b="1" lang="es-CL" sz="1800" u="none" cap="none" strike="noStrike">
                          <a:solidFill>
                            <a:schemeClr val="dk1"/>
                          </a:solidFill>
                        </a:rPr>
                        <a:t>Nombre Fase</a:t>
                      </a:r>
                      <a:endParaRPr b="1" sz="18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b="1" lang="es-CL" sz="1800"/>
                        <a:t>Costo por Fase</a:t>
                      </a:r>
                      <a:endParaRPr b="1" sz="18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 anchor="ctr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s-CL" sz="1800"/>
                        <a:t>Fase 1 - Planificación</a:t>
                      </a:r>
                      <a:endParaRPr sz="18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just">
                        <a:spcBef>
                          <a:spcPts val="0"/>
                        </a:spcBef>
                        <a:spcAft>
                          <a:spcPts val="0"/>
                        </a:spcAft>
                        <a:buSzPts val="1800"/>
                        <a:buNone/>
                      </a:pPr>
                      <a:r>
                        <a:rPr lang="es-CL" sz="1800"/>
                        <a:t>$ 352.500</a:t>
                      </a:r>
                      <a:endParaRPr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/>
                </a:tc>
              </a:tr>
              <a:tr h="3788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s-CL" sz="1800"/>
                        <a:t>Fase 2 - Análisis y Diseño</a:t>
                      </a:r>
                      <a:endParaRPr sz="18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rtl="0" algn="just">
                        <a:spcBef>
                          <a:spcPts val="0"/>
                        </a:spcBef>
                        <a:spcAft>
                          <a:spcPts val="0"/>
                        </a:spcAft>
                        <a:buSzPts val="1800"/>
                        <a:buNone/>
                      </a:pPr>
                      <a:r>
                        <a:rPr lang="es-CL" sz="1800"/>
                        <a:t>$ 1.117.500</a:t>
                      </a:r>
                      <a:endParaRPr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s-CL" sz="1800"/>
                        <a:t>Fase 3 - Desarrollo y Persistencia</a:t>
                      </a:r>
                      <a:endParaRPr sz="1800" u="none" cap="none" strike="noStrike"/>
                    </a:p>
                  </a:txBody>
                  <a:tcPr marT="45725" marB="45725" marR="91450" marL="91450"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/>
                        <a:t>$ 2.185.000</a:t>
                      </a:r>
                      <a:endParaRPr sz="1800"/>
                    </a:p>
                  </a:txBody>
                  <a:tcPr marT="91425" marB="91425" marR="28575" marL="28575" anchor="b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s-CL" sz="1800"/>
                        <a:t>Fase 4 - Pruebas y  Aseguramiento (QA)</a:t>
                      </a:r>
                      <a:endParaRPr sz="1800" u="none" cap="none" strike="noStrike"/>
                    </a:p>
                  </a:txBody>
                  <a:tcPr marT="45725" marB="45725" marR="91450" marL="91450"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/>
                        <a:t>$ 735.000</a:t>
                      </a:r>
                      <a:endParaRPr sz="1800"/>
                    </a:p>
                  </a:txBody>
                  <a:tcPr marT="91425" marB="91425" marR="28575" marL="28575" anchor="b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alibri"/>
                        <a:buNone/>
                      </a:pPr>
                      <a:r>
                        <a:rPr lang="es-CL" sz="1800"/>
                        <a:t>Fase 5 - Implementación y Cierre</a:t>
                      </a:r>
                      <a:endParaRPr sz="1800" u="none" cap="none" strike="noStrike"/>
                    </a:p>
                  </a:txBody>
                  <a:tcPr marT="45725" marB="45725" marR="91450" marL="91450"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/>
                        <a:t>$ 510.000</a:t>
                      </a:r>
                      <a:endParaRPr sz="1800"/>
                    </a:p>
                  </a:txBody>
                  <a:tcPr marT="91425" marB="91425" marR="28575" marL="28575" anchor="b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183" name="Google Shape;183;p11"/>
          <p:cNvGraphicFramePr/>
          <p:nvPr/>
        </p:nvGraphicFramePr>
        <p:xfrm>
          <a:off x="2333375" y="4848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{B33E16E8-4781-423C-A866-0AF6BA6D792C}</a:tableStyleId>
              </a:tblPr>
              <a:tblGrid>
                <a:gridCol w="4027750"/>
                <a:gridCol w="34975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 HH FASES</a:t>
                      </a:r>
                      <a:endParaRPr b="1"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 anchor="b">
                    <a:lnL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$ 4.900.000</a:t>
                      </a:r>
                      <a:endParaRPr b="1"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 anchor="b">
                    <a:lnL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4" name="Google Shape;184;p11"/>
          <p:cNvGraphicFramePr/>
          <p:nvPr/>
        </p:nvGraphicFramePr>
        <p:xfrm>
          <a:off x="2333388" y="5306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{B33E16E8-4781-423C-A866-0AF6BA6D792C}</a:tableStyleId>
              </a:tblPr>
              <a:tblGrid>
                <a:gridCol w="4027750"/>
                <a:gridCol w="34975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PRECIO FINAL</a:t>
                      </a:r>
                      <a:endParaRPr b="1"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 anchor="b">
                    <a:lnL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$ 7.840.000</a:t>
                      </a:r>
                      <a:endParaRPr b="1" sz="11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28575" marL="28575" anchor="b">
                    <a:lnL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2"/>
          <p:cNvSpPr txBox="1"/>
          <p:nvPr>
            <p:ph type="title"/>
          </p:nvPr>
        </p:nvSpPr>
        <p:spPr>
          <a:xfrm>
            <a:off x="641252" y="1068511"/>
            <a:ext cx="10515600" cy="6441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s-CL"/>
              <a:t>Tecnologías del Desarrollo</a:t>
            </a:r>
            <a:endParaRPr/>
          </a:p>
        </p:txBody>
      </p:sp>
      <p:sp>
        <p:nvSpPr>
          <p:cNvPr id="190" name="Google Shape;190;p12"/>
          <p:cNvSpPr txBox="1"/>
          <p:nvPr/>
        </p:nvSpPr>
        <p:spPr>
          <a:xfrm>
            <a:off x="641252" y="1828016"/>
            <a:ext cx="10861200" cy="45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 (Lógica de Negocio): Python (v3.11+) utilizando el framework Django (v5.x) bajo una arquitectura en tres capas (Modelo-Vista-Plantilla).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Base de Datos (Capa de Datos): Oracle Database 21c Express Edition (XE), utilizando scripts DDL y programación transaccional en PL/SQL.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Frontend (Capa de Presentación): HTML5, CSS3 y JavaScript nativo, apoyados en el framework Bootstrap 5 para garantizar interfaces responsivas y adaptables a múltiples monitores.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Integraciones Web (APIs): Protocolo SMTP (Google Workspace) para el envío automático de notificaciones por correo y API REST (Google Calendar) para la sincronización de eventos.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Librerías de Reportabilidad: Uso de bibliotecas de Python como ReportLab (para la renderización de certificados PDF) y openpyxl (para la exportación de reportes en Excel).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3"/>
          <p:cNvSpPr txBox="1"/>
          <p:nvPr/>
        </p:nvSpPr>
        <p:spPr>
          <a:xfrm>
            <a:off x="609558" y="699121"/>
            <a:ext cx="10515600" cy="1053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Conclusión  </a:t>
            </a:r>
            <a:endParaRPr/>
          </a:p>
        </p:txBody>
      </p:sp>
      <p:sp>
        <p:nvSpPr>
          <p:cNvPr id="196" name="Google Shape;196;p13"/>
          <p:cNvSpPr/>
          <p:nvPr/>
        </p:nvSpPr>
        <p:spPr>
          <a:xfrm>
            <a:off x="839487" y="1923143"/>
            <a:ext cx="10365542" cy="4332514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Sistema de Gestión Escolar Santa Juliana representa una solución tecnológica robusta y escalable que resolverá la ineficiencia administrativa del liceo. A través del uso de arquitectura de tres capas, control de seguridad por roles y una base de datos centralizada, el equipo aplicará de forma exitosa las competencias del perfil de egreso, entregando un producto que optimizará el tiempo de la comunidad educativa y permitirá a la directiva tomar decisiones basadas en datos precisos.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2015-07-01T15:45:01Z</dcterms:created>
  <dc:creator>Sala_</dc:creator>
</cp:coreProperties>
</file>