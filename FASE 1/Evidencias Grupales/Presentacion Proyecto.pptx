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gLxysLl9utw8cRIis/EShKS+h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789481-2C9E-4173-A718-3508A3835A49}">
  <a:tblStyle styleId="{5A789481-2C9E-4173-A718-3508A3835A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EF5806D-92EA-47FA-842B-6E3FC5F304D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99729d8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b99729d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b99729d8c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b99729d8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b99729d8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8b99729d8c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</a:t>
            </a:r>
            <a:r>
              <a:rPr lang="es-CL" sz="3200"/>
              <a:t>Sistema de Gestión Escolar Santa Juliana 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5" y="1382425"/>
            <a:ext cx="6781017" cy="4772809"/>
            <a:chOff x="0" y="0"/>
            <a:chExt cx="6781017" cy="3415981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Pedro Iturriaga Gómez 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 / Aseguramiento de Calidad (QA)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Iván Carrasco González 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 (Backend)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Franco González Gaete 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BD (DBA) / Diseñador UI 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/>
            </a:p>
          </p:txBody>
        </p:sp>
      </p:grpSp>
      <p:pic>
        <p:nvPicPr>
          <p:cNvPr id="98" name="Google Shape;98;p2" title="Gemini_Generated_Image_akd4bkakd4bkakd4.png"/>
          <p:cNvPicPr preferRelativeResize="0"/>
          <p:nvPr/>
        </p:nvPicPr>
        <p:blipFill rotWithShape="1">
          <a:blip r:embed="rId3">
            <a:alphaModFix/>
          </a:blip>
          <a:srcRect b="7190" l="0" r="4907" t="12656"/>
          <a:stretch/>
        </p:blipFill>
        <p:spPr>
          <a:xfrm>
            <a:off x="4268625" y="1477404"/>
            <a:ext cx="1105099" cy="12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625" y="4743119"/>
            <a:ext cx="1105100" cy="134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8869" l="0" r="0" t="8322"/>
          <a:stretch/>
        </p:blipFill>
        <p:spPr>
          <a:xfrm>
            <a:off x="4268625" y="3148313"/>
            <a:ext cx="1105100" cy="12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Colegio Santa Juliana sufre de ineficiencia administrativa y operativa debido a su alta dependencia de procesos manuales, formularios en papel y planillas Excel dispersas. Esto genera pérdida de tiempo lectivo para los docentes, falta de trazabilidad en las fallas de hardware y quiebres de stock en insumos básicos.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1-Arquitectura: Creación de un sistema web basado en una arquitectura sólida de tres capas, utilizando Python (Django) y Oracle Database, eliminando la redundancia de datos.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Módulos Operativos: Implementación de módulos específicos para Mesa de Ayuda TI (bitácora de hardware), control de inventario/insumos, y un libro de clases digital para asistencia y calificaciones.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Portal de Apoderados: Integración de un entorno de autoservicio para la comunidad familiar, permitiendo visualizar el rendimiento en tiempo real y emitir certificados oficiales automatizados en PDF.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una plataforma web centralizada para la gestión académica, logística y de soporte informático del Colegio Santa Juliana, mejorando la eficiencia operativa del establecimiento.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una base de datos relacional centralizada en Oracle.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módulo de Mesa de Ayuda TI para trazabilidad histórica.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portal web de autoservicio para apoderados.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Asegurar la plataforma mediante Control de Acceso Basado en Roles (RBAC).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914374" y="1664801"/>
            <a:ext cx="10072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 la gestión del inventario tecnológico y el stock de insumos.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 el soporte de TI mediante una bitácora de incidencias.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a los docentes el registro de asistencia y calificaciones (escala 1.0 a 7.0).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Provee un portal de autoservicio para apoderados con descarga automática de certificados PDF.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integra pasarelas de pago bancario en línea (ej. Webpay).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administra la contabilidad ni las finanzas del establecimiento.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el desarrollo de aplicaciones móviles nativas (iOS/Android).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Administrador: Posee nivel técnico alto. Es responsable de parametrizar el sistema en el Backoffice, gestionar credenciales de acceso.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Jefe TI: Posee nivel técnico medio. Se encarga del control logístico, aprobando o rechazando las solicitudes de insumos, encargado de las incidencias.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Docente: Posee nivel técnico medio. Interactúa con el sistema desde el aula para registrar asistencia diaria, ponderar calificaciones y generar tickets rápidos por fallas en los equipos.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Encargado de Aseo: Posee nivel técnico básico. Utiliza interfaces simplificadas e intuitivas exclusivamente para solicitar materiales de limpieza y reportar incidencias menores.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Apoderado: Posee un nivel técnico heterogéneo. Accede a un portal web de autoservicio diseñado para consultar el rendimiento de su pupilo y descargar certificados de forma completamente autónoma.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338541" y="81929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graphicFrame>
        <p:nvGraphicFramePr>
          <p:cNvPr id="134" name="Google Shape;134;p7"/>
          <p:cNvGraphicFramePr/>
          <p:nvPr/>
        </p:nvGraphicFramePr>
        <p:xfrm>
          <a:off x="338563" y="146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{5A789481-2C9E-4173-A718-3508A3835A49}</a:tableStyleId>
              </a:tblPr>
              <a:tblGrid>
                <a:gridCol w="615075"/>
                <a:gridCol w="1960500"/>
                <a:gridCol w="1699275"/>
                <a:gridCol w="2234850"/>
                <a:gridCol w="4351025"/>
                <a:gridCol w="745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[R-N°]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[Nombre del Requerimiento]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Requerimiento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[Funcional, No Funcional]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Actores Usuarios Relacionados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[Descripción corta del requerimiento]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Autenticar Usuario al iniciar Sesión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los Actores que interactúen en el Sistema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validar la identidad del usuario mediante su RUT y contraseña cifrada, asignando el perfil correspondiente (Docente, Aseo, Administrativo, Apoderado o TI).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Administrar Cuentas de Usuario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Administrador podrá crear, consultar, modificar y desactivar cuentas de usuario asignando sus respectivos roles y permisos.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Salas y Espacios Físicos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y listar los espacios físicos (salas de clases, 3 laboratorios y oficinas) asociándolos al edificio de párvulos o básica/media.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Gestionar Inventario Tecnológico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y consultar la ficha técnica de hardware (PCs de laboratorios, proyectores, impresoras), su ubicación física y su estado operativo.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Administrar Insumos y Materiales de Aseo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TI, Administrativo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Gestionar el catálogo de artículos de limpieza con su unidad de medida, cantidad en stock y alertas de umbral mínimo.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" name="Google Shape;135;p7"/>
          <p:cNvGraphicFramePr/>
          <p:nvPr/>
        </p:nvGraphicFramePr>
        <p:xfrm>
          <a:off x="338563" y="495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{5A789481-2C9E-4173-A718-3508A3835A49}</a:tableStyleId>
              </a:tblPr>
              <a:tblGrid>
                <a:gridCol w="615075"/>
                <a:gridCol w="1960500"/>
                <a:gridCol w="1699275"/>
                <a:gridCol w="2234850"/>
                <a:gridCol w="4351025"/>
                <a:gridCol w="745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Gestionar Cursos y Asignaturas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Administrativo, Administrador TI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Configurar los niveles lectivos, catálogo de materias y asociar qué profesor imparte cada asignatura en un curso determinado.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Tipificar Mantenimientos Técnicos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y clasificar los tipos de mantenciones y fallas (preventivo, correctivo hardware/software, conectividad/red).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Solicitar Insumos de Aseo y Materiales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Profesores, Encargados de Aseo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Ingresar digitalmente solicitudes de materiales indicando el ítem, la cantidad requerida, dependencia de destino y motivo.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g38b99729d8c_0_14"/>
          <p:cNvGraphicFramePr/>
          <p:nvPr/>
        </p:nvGraphicFramePr>
        <p:xfrm>
          <a:off x="482225" y="87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{5A789481-2C9E-4173-A718-3508A3835A49}</a:tableStyleId>
              </a:tblPr>
              <a:tblGrid>
                <a:gridCol w="497475"/>
                <a:gridCol w="1464125"/>
                <a:gridCol w="693425"/>
                <a:gridCol w="1137550"/>
                <a:gridCol w="6767650"/>
                <a:gridCol w="967725"/>
              </a:tblGrid>
              <a:tr h="43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Revisar y Aprobar Solicitudes de Insumos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Administrativo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Evaluar pedidos pendientes, revisar stock disponible y emitir resolución (Aprobar, Rechazar o Ajustar) rebajando automáticamente el inventario.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Incidencias Técnicas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Profesores, Funcionarios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Notificar fallas en equipos de salas, laboratorios o conectividad, detallando la ubicación, equipo y prioridad (Baja, Media, Alta, Crítica).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Bitácora de Mantención TI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 / Soporte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intervenciones técnicas con fecha/hora, diagnóstico, repuestos utilizados, tiempo de atención y resultado final de la falla.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Consultar Hoja de Vida por Equipo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 / Soporte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Consultar el historial consolidado de incidencias y mantenciones asociadas a un equipo mediante su código institucional de inventario.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Asistencia Diaria de Alumnos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Profesores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Marcar presencia o ausencia de estudiantes por curso/asignatura de forma rápida con registro de fecha y hora.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Registrar y Ponderar Calificaciones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Profesores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Ingresar y modificar calificaciones en escala de 1.0 a 7.0, calculando automáticamente promedios ponderados por período.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Consultar Rendimiento y Asistencia de Pupilos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Apoderados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Visualizar en línea el resumen de notas parciales y el porcentaje global de asistencia de los estudiantes a cargo.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Solicitar Certificado de Alumno Regular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Apoderados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Solicitar y descargar de forma autónoma certificados escolares válidos en formato PDF.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Notificar por Correo Electrónico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los Actores que interactúen en el Sistema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Enviar correos automáticos ante resolución de solicitudes de insumos, fallas críticas reportadas y emisión de certificados.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Reporte de Mantenimiento TI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TI, Directivos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Consultar en pantalla y exportar a PDF y Excel un consolidado de incidencias con filtros por fecha, sala y tipo de falla.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g38b99729d8c_0_20"/>
          <p:cNvGraphicFramePr/>
          <p:nvPr/>
        </p:nvGraphicFramePr>
        <p:xfrm>
          <a:off x="286300" y="1527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{5A789481-2C9E-4173-A718-3508A3835A49}</a:tableStyleId>
              </a:tblPr>
              <a:tblGrid>
                <a:gridCol w="517075"/>
                <a:gridCol w="1640500"/>
                <a:gridCol w="1157125"/>
                <a:gridCol w="1967050"/>
                <a:gridCol w="5363400"/>
                <a:gridCol w="1157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R.19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Reporte de Consumo de Insumos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Administrativo, Directivos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Consultar en pantalla y exportar a PDF y Excel las solicitudes atendidas, insumos despachados por área y stock remanente.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Rapidez en Tiempos de Respuesta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 las consultas, toma de asistencia y registros del sistema respondan en menos de 2 segundos con al menos 80 usuarios concurrentes.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 y Cifrado de Contraseñas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 claves deben guardarse cifradas (bcrypt) y las sesiones deben cerrarse por inactividad protegiendo los datos del colegio.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y Formato de Datos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validar el formato de RUT chileno (módulo 11), correos válidos y rango de notas de 1.0 a 7.0 tanto en cliente como servidor.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Adaptabilidad a Monitores Institucionales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interfaz debe visualizarse correctamente en computadores de escritorio, All-in-One y notebooks de salas y oficinas (desde 1366x768).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Disponibilidad del Sistema en Horario Escolar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plataforma debe estar disponible un 99.5% del tiempo en jornada escolar de 07:30 a 19:30 horas.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y Arquitectura en Capas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aplicación debe construirse en capas desacopladas (Presentación, Lógica de Negocio y Datos) con POO.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Sugerido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1-Login                                                                                         2-Vista Administrador crear Usuario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8" title="1. VISTA 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50" y="2370399"/>
            <a:ext cx="5453752" cy="3408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8" title="2.1 VISTA ADMINISTRADOR CREAR USUAR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8225" y="2370399"/>
            <a:ext cx="5453744" cy="3408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232325" y="1848350"/>
            <a:ext cx="10515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3-Vista Apoderados Notas                                                                4-Vista Jefe TI Incidencias 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9" title="3. VISTA APODERADO NOT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25" y="2592473"/>
            <a:ext cx="4996976" cy="37477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9" title="4.1 VISTA JEFE TI INCIDENCI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501" y="2651050"/>
            <a:ext cx="4840801" cy="3630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b99729d8c_0_43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7" name="Google Shape;167;g38b99729d8c_0_43"/>
          <p:cNvSpPr txBox="1"/>
          <p:nvPr/>
        </p:nvSpPr>
        <p:spPr>
          <a:xfrm>
            <a:off x="232325" y="1848350"/>
            <a:ext cx="10515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-Vista Profesores                                                                              6-Vista Supervisor de aseo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8b99729d8c_0_43" title="5.1 VISTA PROFESOR AGREGAR NOT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50" y="2449150"/>
            <a:ext cx="5114524" cy="39429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g38b99729d8c_0_43" title="6. VISTA SUPERVISOR DE ASE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5428" y="2449150"/>
            <a:ext cx="5257256" cy="39429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5" name="Google Shape;175;p10"/>
          <p:cNvGraphicFramePr/>
          <p:nvPr/>
        </p:nvGraphicFramePr>
        <p:xfrm>
          <a:off x="1708434" y="23568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{DEF5806D-92EA-47FA-842B-6E3FC5F304D6}</a:tableStyleId>
              </a:tblPr>
              <a:tblGrid>
                <a:gridCol w="4027750"/>
                <a:gridCol w="3497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1 - Planificación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19/08/2026 al 01/09/2026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2 - Análisis y Diseño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02/09/2026 al 09/09/2026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3 - Desarrollo y Persistencia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23/09/2026 al 10/11/2026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4 - Pruebas y  Aseguramiento (QA)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11/11/2026 al 24/11/2026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5 - Implementación y Cierre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25/11/2026 al 09/12/2026 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1"/>
          <p:cNvGraphicFramePr/>
          <p:nvPr/>
        </p:nvGraphicFramePr>
        <p:xfrm>
          <a:off x="2333396" y="23568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{DEF5806D-92EA-47FA-842B-6E3FC5F304D6}</a:tableStyleId>
              </a:tblPr>
              <a:tblGrid>
                <a:gridCol w="4027750"/>
                <a:gridCol w="3497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/>
                        <a:t>Costo por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1 - Planificación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None/>
                      </a:pPr>
                      <a:r>
                        <a:rPr lang="es-CL" sz="1800"/>
                        <a:t>$ 352.500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2 - Análisis y Diseño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None/>
                      </a:pPr>
                      <a:r>
                        <a:rPr lang="es-CL" sz="1800"/>
                        <a:t>$ 1.117.500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3 - Desarrollo y Persistencia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$ 2.185.000</a:t>
                      </a:r>
                      <a:endParaRPr sz="1800"/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4 - Pruebas y  Aseguramiento (QA)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$ 735.000</a:t>
                      </a:r>
                      <a:endParaRPr sz="1800"/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Fase 5 - Implementación y Cierre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$ 510.000</a:t>
                      </a:r>
                      <a:endParaRPr sz="1800"/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3" name="Google Shape;183;p11"/>
          <p:cNvGraphicFramePr/>
          <p:nvPr/>
        </p:nvGraphicFramePr>
        <p:xfrm>
          <a:off x="2333375" y="484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{5A789481-2C9E-4173-A718-3508A3835A49}</a:tableStyleId>
              </a:tblPr>
              <a:tblGrid>
                <a:gridCol w="4027750"/>
                <a:gridCol w="349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HH FASES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$ 4.900.000</a:t>
                      </a:r>
                      <a:endParaRPr b="1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" name="Google Shape;184;p11"/>
          <p:cNvGraphicFramePr/>
          <p:nvPr/>
        </p:nvGraphicFramePr>
        <p:xfrm>
          <a:off x="2333388" y="530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{5A789481-2C9E-4173-A718-3508A3835A49}</a:tableStyleId>
              </a:tblPr>
              <a:tblGrid>
                <a:gridCol w="4027750"/>
                <a:gridCol w="349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PRECIO FINAL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$ 7.840.000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641252" y="1828016"/>
            <a:ext cx="108612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(Lógica de Negocio): Python (v3.11+) utilizando el framework Django (v5.x) bajo una arquitectura en tres capas (Modelo-Vista-Plantilla).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(Capa de Datos): Oracle Database 21c Express Edition (XE), utilizando scripts DDL y programación transaccional en PL/SQL.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(Capa de Presentación): HTML5, CSS3 y JavaScript nativo, apoyados en el framework Bootstrap 5 para garantizar interfaces responsivas y adaptables a múltiples monitores.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Integraciones Web (APIs): Protocolo SMTP (Google Workspace) para el envío automático de notificaciones por correo y API REST (Google Calendar) para la sincronización de eventos.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Librerías de Reportabilidad: Uso de bibliotecas de Python como ReportLab (para la renderización de certificados PDF) y openpyxl (para la exportación de reportes en Excel).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 Gestión Escolar Santa Juliana representa una solución tecnológica robusta y escalable que resolverá la ineficiencia administrativa del liceo. A través del uso de arquitectura de tres capas, control de seguridad por roles y una base de datos centralizada, el equipo aplicará de forma exitosa las competencias del perfil de egreso, entregando un producto que optimizará el tiempo de la comunidad educativa y permitirá a la directiva tomar decisiones basadas en datos precisos.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